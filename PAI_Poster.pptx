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301752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95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3660"/>
    <a:srgbClr val="6600CC"/>
    <a:srgbClr val="1B2B47"/>
    <a:srgbClr val="0E172E"/>
    <a:srgbClr val="162445"/>
    <a:srgbClr val="162547"/>
    <a:srgbClr val="E7DAB6"/>
    <a:srgbClr val="F471B5"/>
    <a:srgbClr val="A50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howGuides="1">
      <p:cViewPr varScale="1">
        <p:scale>
          <a:sx n="34" d="100"/>
          <a:sy n="34" d="100"/>
        </p:scale>
        <p:origin x="1584" y="96"/>
      </p:cViewPr>
      <p:guideLst>
        <p:guide orient="horz" pos="6912"/>
        <p:guide pos="9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B6858-8220-43E7-9F6E-452CD25701CF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06513" y="1143000"/>
            <a:ext cx="4244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D9DE0-F230-4154-93D6-B16B56F562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006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D9DE0-F230-4154-93D6-B16B56F562D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49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140" y="3591562"/>
            <a:ext cx="2564892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1900" y="11526522"/>
            <a:ext cx="226314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39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61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830" y="5471167"/>
            <a:ext cx="2602611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8830" y="14686287"/>
            <a:ext cx="2602611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931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545" y="5842000"/>
            <a:ext cx="1282446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6195" y="5842000"/>
            <a:ext cx="1282446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9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5" y="1168405"/>
            <a:ext cx="2602611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479" y="5379722"/>
            <a:ext cx="12765522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479" y="8016240"/>
            <a:ext cx="12765522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6197" y="5379722"/>
            <a:ext cx="12828390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6197" y="8016240"/>
            <a:ext cx="12828390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4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31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38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1463040"/>
            <a:ext cx="9732287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8390" y="3159765"/>
            <a:ext cx="15276195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6583680"/>
            <a:ext cx="9732287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66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1463040"/>
            <a:ext cx="9732287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8390" y="3159765"/>
            <a:ext cx="15276195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6583680"/>
            <a:ext cx="9732287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472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923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4129" y="1168400"/>
            <a:ext cx="6506528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546" y="1168400"/>
            <a:ext cx="19142393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23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545" y="1168405"/>
            <a:ext cx="2602611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545" y="5842000"/>
            <a:ext cx="2602611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545" y="20340325"/>
            <a:ext cx="67894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B6A4D-9A34-4AC8-B915-3B57CD892AC3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5535" y="20340325"/>
            <a:ext cx="1018413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1235" y="20340325"/>
            <a:ext cx="678942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1D279-0A1A-48BA-9FFC-1F56F808F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81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32A1E6DF-BD22-46FF-A2FB-0725BAA63DDF}"/>
              </a:ext>
            </a:extLst>
          </p:cNvPr>
          <p:cNvSpPr/>
          <p:nvPr/>
        </p:nvSpPr>
        <p:spPr>
          <a:xfrm>
            <a:off x="0" y="-23357"/>
            <a:ext cx="30175200" cy="3644344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C6641A-EA10-4F64-1DA7-376C7B98CE6F}"/>
              </a:ext>
            </a:extLst>
          </p:cNvPr>
          <p:cNvSpPr/>
          <p:nvPr/>
        </p:nvSpPr>
        <p:spPr>
          <a:xfrm>
            <a:off x="1741447" y="5033768"/>
            <a:ext cx="11194473" cy="841402"/>
          </a:xfrm>
          <a:prstGeom prst="rect">
            <a:avLst/>
          </a:prstGeom>
          <a:gradFill flip="none" rotWithShape="1">
            <a:gsLst>
              <a:gs pos="0">
                <a:srgbClr val="0E172E"/>
              </a:gs>
              <a:gs pos="100000">
                <a:srgbClr val="1B2B47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50366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FDEFCC-8A58-6CF5-47CA-A5A227E18ADB}"/>
              </a:ext>
            </a:extLst>
          </p:cNvPr>
          <p:cNvSpPr/>
          <p:nvPr/>
        </p:nvSpPr>
        <p:spPr>
          <a:xfrm>
            <a:off x="1662545" y="10797023"/>
            <a:ext cx="11194473" cy="841402"/>
          </a:xfrm>
          <a:prstGeom prst="rect">
            <a:avLst/>
          </a:prstGeom>
          <a:gradFill flip="none" rotWithShape="1">
            <a:gsLst>
              <a:gs pos="0">
                <a:srgbClr val="0E172E"/>
              </a:gs>
              <a:gs pos="100000">
                <a:srgbClr val="1B2B4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0A9687-8AF5-051B-17BE-D94BF7D6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12" y="20162054"/>
            <a:ext cx="5301037" cy="14655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9A20D8-409D-61BA-A918-7539CC433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316" y="129020"/>
            <a:ext cx="3010764" cy="30107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2D8739-EBBB-8CBD-10AB-77B2F1683F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0" y="12519105"/>
            <a:ext cx="15087600" cy="8414871"/>
          </a:xfrm>
          <a:prstGeom prst="rect">
            <a:avLst/>
          </a:prstGeom>
          <a:effectLst>
            <a:softEdge rad="1143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E02350-8EDD-DC43-3737-0C4138DE0B74}"/>
              </a:ext>
            </a:extLst>
          </p:cNvPr>
          <p:cNvSpPr txBox="1"/>
          <p:nvPr/>
        </p:nvSpPr>
        <p:spPr>
          <a:xfrm>
            <a:off x="824384" y="381490"/>
            <a:ext cx="856085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rgbClr val="162547"/>
                </a:solidFill>
                <a:latin typeface="Arial Black" panose="020B0A04020102020204" pitchFamily="34" charset="0"/>
                <a:ea typeface="NSimSun" panose="02010609030101010101" pitchFamily="49" charset="-122"/>
              </a:rPr>
              <a:t>QUASAR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CC3A8-64C4-0C7D-1DE7-5C7BEC5B24C5}"/>
              </a:ext>
            </a:extLst>
          </p:cNvPr>
          <p:cNvSpPr txBox="1"/>
          <p:nvPr/>
        </p:nvSpPr>
        <p:spPr>
          <a:xfrm>
            <a:off x="9304704" y="467305"/>
            <a:ext cx="113391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Garamond" panose="02020404030301010803" pitchFamily="18" charset="0"/>
              </a:rPr>
              <a:t>An AI-Powered Research Assistant</a:t>
            </a:r>
          </a:p>
          <a:p>
            <a:r>
              <a:rPr lang="en-US" sz="6000" dirty="0">
                <a:latin typeface="Garamond" panose="02020404030301010803" pitchFamily="18" charset="0"/>
              </a:rPr>
              <a:t>for Astronomy Archive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47DB7-AFDA-03EB-7BF8-23FF9C4D8ABE}"/>
              </a:ext>
            </a:extLst>
          </p:cNvPr>
          <p:cNvSpPr txBox="1"/>
          <p:nvPr/>
        </p:nvSpPr>
        <p:spPr>
          <a:xfrm>
            <a:off x="615374" y="3750767"/>
            <a:ext cx="142436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rgbClr val="503660"/>
                </a:solidFill>
                <a:latin typeface="Times New Roman" panose="020206030504050203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Quasar lets researchers search, retrieve, and analyze astronomy archive data through natural language with ease.</a:t>
            </a:r>
            <a:endParaRPr lang="en-IN" sz="3200" b="1" dirty="0">
              <a:solidFill>
                <a:srgbClr val="503660"/>
              </a:solidFill>
              <a:latin typeface="Times New Roman" panose="02020603050405020304" pitchFamily="18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B19CB0-F227-0EEB-63DB-405C5177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16200" y="3846794"/>
            <a:ext cx="14630400" cy="7831338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5909B4-98D1-CE43-A2A1-9E16783EA4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973" y="20337655"/>
            <a:ext cx="2465373" cy="13118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B4D635-B781-CB4B-03DF-CB3231E33296}"/>
              </a:ext>
            </a:extLst>
          </p:cNvPr>
          <p:cNvSpPr txBox="1"/>
          <p:nvPr/>
        </p:nvSpPr>
        <p:spPr>
          <a:xfrm>
            <a:off x="15316200" y="11951707"/>
            <a:ext cx="12776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Fig. 1:</a:t>
            </a:r>
            <a:r>
              <a:rPr lang="en-IN" sz="2400" dirty="0"/>
              <a:t> Quasar web interface. Live at  https://www.quasarassistant.com/</a:t>
            </a:r>
          </a:p>
          <a:p>
            <a:endParaRPr lang="en-IN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88479E-6D33-8700-5797-00FF70E6F366}"/>
              </a:ext>
            </a:extLst>
          </p:cNvPr>
          <p:cNvSpPr txBox="1"/>
          <p:nvPr/>
        </p:nvSpPr>
        <p:spPr>
          <a:xfrm>
            <a:off x="15373144" y="20815854"/>
            <a:ext cx="14573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Fig. 2</a:t>
            </a:r>
            <a:r>
              <a:rPr lang="en-US" sz="2400" dirty="0"/>
              <a:t>: System architecture: simple queries route through the Agent Tool Loop; complex queries decompose through the Conductor into specialist Archive, Literature, and Analysis agents.</a:t>
            </a:r>
            <a:endParaRPr lang="en-IN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4348CC-FB21-C723-6F70-309E60368BB6}"/>
              </a:ext>
            </a:extLst>
          </p:cNvPr>
          <p:cNvSpPr txBox="1"/>
          <p:nvPr/>
        </p:nvSpPr>
        <p:spPr>
          <a:xfrm>
            <a:off x="831272" y="2566816"/>
            <a:ext cx="213775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Zacharia Anil</a:t>
            </a:r>
            <a:r>
              <a:rPr lang="en-I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·  Adele Plunkett</a:t>
            </a:r>
            <a:r>
              <a:rPr lang="en-I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·  Brian Mason</a:t>
            </a:r>
            <a:r>
              <a:rPr lang="en-I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1,3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·  Stella Offner</a:t>
            </a:r>
            <a:r>
              <a:rPr lang="en-IN" sz="2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2,3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Radio Astronomy Observatory    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Texas at Austin    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NSF-Simons AI Institute for Cosmic Origins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A9674D-55DB-1306-5064-7FDF09A6FDE8}"/>
              </a:ext>
            </a:extLst>
          </p:cNvPr>
          <p:cNvSpPr txBox="1"/>
          <p:nvPr/>
        </p:nvSpPr>
        <p:spPr>
          <a:xfrm>
            <a:off x="5457183" y="5061657"/>
            <a:ext cx="570958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3BA45E5-06F5-D140-964C-7C61B48C76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1470" y="1108364"/>
            <a:ext cx="3711244" cy="118419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6CF6E23-0D5D-2DF8-1564-43BC33DE4423}"/>
              </a:ext>
            </a:extLst>
          </p:cNvPr>
          <p:cNvSpPr txBox="1"/>
          <p:nvPr/>
        </p:nvSpPr>
        <p:spPr>
          <a:xfrm>
            <a:off x="526474" y="11684055"/>
            <a:ext cx="14332528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ask natural-language astrophysics questions through the web interface (Fig. 1).</a:t>
            </a:r>
          </a:p>
          <a:p>
            <a:pPr marL="365760" indent="-36576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indent="-36576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Quasar retrieves relevant context from ALMA documentation (almascience.org), uploaded user files, conversation memory, and optional archive or web search results.</a:t>
            </a:r>
          </a:p>
          <a:p>
            <a:pPr marL="365760" indent="-36576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indent="-36576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complexity detector routes simple queries to a direct tool-based search-and-response workflow, while complex queries are sent to the Conductor for subtasks such as observation search, frequency-coverage checks, calculations, literature lookup, and result synthesis.</a:t>
            </a:r>
          </a:p>
          <a:p>
            <a:pPr marL="365760" indent="-36576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indent="-365760" algn="just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Specialist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sub-agents for Archive, Literature, and Analysis execute subtasks sequentially or in parallel, depending on dependencies. For precise computation, the Analysis agent runs sandboxed Python.</a:t>
            </a:r>
          </a:p>
          <a:p>
            <a:pPr marL="365760" indent="-36576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 indent="-36576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architecture is shown in Figure 2. Code and implementation details are available at: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https://github.com/adamzacharia/Quasar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5A7A39-1902-AE58-B512-A5D1C3F79F4F}"/>
              </a:ext>
            </a:extLst>
          </p:cNvPr>
          <p:cNvSpPr txBox="1"/>
          <p:nvPr/>
        </p:nvSpPr>
        <p:spPr>
          <a:xfrm>
            <a:off x="615373" y="6096437"/>
            <a:ext cx="1433252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Atacama Large Millimeter/submillimeter Array (ALMA) Science Archive contains more than a decade of public radio astronomy observations, with over 2 PB of data covering a range of scientific applications. The challenge is not just that datasets can be large; the research pipeline often requires moving between archive searches, metadata tables, documentation, papers, and analysis code. Quasar helps researchers start with a scientific question and address it with the necessary archive searches, data retrieval, literature lookup, calculations, and readable final results.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removing the scientist from the process, Quasar uses AI to reduce the busywork between knowing what to study and actually finding, checking, and using necessary archival data. As a result, Quasar makes archival data more discoverable for astrophysics use cases.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CEB0F7-D63F-8C58-511D-073C460627F4}"/>
              </a:ext>
            </a:extLst>
          </p:cNvPr>
          <p:cNvSpPr txBox="1"/>
          <p:nvPr/>
        </p:nvSpPr>
        <p:spPr>
          <a:xfrm>
            <a:off x="5433397" y="10894088"/>
            <a:ext cx="64361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pic>
        <p:nvPicPr>
          <p:cNvPr id="1026" name="Picture 2" descr="HPCwire - Since 1987 – Covering the Fastest Computers in the World and the  People Who Run Them">
            <a:extLst>
              <a:ext uri="{FF2B5EF4-FFF2-40B4-BE49-F238E27FC236}">
                <a16:creationId xmlns:a16="http://schemas.microsoft.com/office/drawing/2014/main" id="{5EBFDDBE-A3F2-3291-8835-20BB682E6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0689" y="20036773"/>
            <a:ext cx="3401848" cy="1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5DF85C2-4467-D61D-0E70-741B69A9DBDA}"/>
              </a:ext>
            </a:extLst>
          </p:cNvPr>
          <p:cNvSpPr txBox="1"/>
          <p:nvPr/>
        </p:nvSpPr>
        <p:spPr>
          <a:xfrm>
            <a:off x="882400" y="18820993"/>
            <a:ext cx="139766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1" i="0" dirty="0">
                <a:solidFill>
                  <a:srgbClr val="5036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Quasar currently focuses on ALMA workflows, with ongoing work to expand support to additional astronomy archives, multi-wavelength datasets, and broader research tasks.</a:t>
            </a:r>
            <a:endParaRPr lang="en-IN" sz="2800" b="1" dirty="0">
              <a:solidFill>
                <a:srgbClr val="5036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18255C34-CC74-154A-41E8-29E923CCBA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52306" y="20049457"/>
            <a:ext cx="1692420" cy="169242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E531887-8B5A-CEFD-9FCB-298AF1A661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5" t="28670" r="8601" b="4377"/>
          <a:stretch>
            <a:fillRect/>
          </a:stretch>
        </p:blipFill>
        <p:spPr>
          <a:xfrm>
            <a:off x="27304815" y="633611"/>
            <a:ext cx="2222619" cy="265313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3BB3844-713B-7E7C-D160-9FE3ADE7537D}"/>
              </a:ext>
            </a:extLst>
          </p:cNvPr>
          <p:cNvSpPr txBox="1"/>
          <p:nvPr/>
        </p:nvSpPr>
        <p:spPr>
          <a:xfrm>
            <a:off x="26654761" y="3281731"/>
            <a:ext cx="388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ndara Light" panose="020E0502030303020204" pitchFamily="34" charset="0"/>
              </a:rPr>
              <a:t>https://www.adamzacharia.com/</a:t>
            </a: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70A1DF50-853E-E097-3B75-4BDFCBCE2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1752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2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1540</TotalTime>
  <Words>432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Candara Light</vt:lpstr>
      <vt:lpstr>Garamond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anil</dc:creator>
  <cp:lastModifiedBy>adam anil</cp:lastModifiedBy>
  <cp:revision>3</cp:revision>
  <dcterms:created xsi:type="dcterms:W3CDTF">2026-06-05T07:14:58Z</dcterms:created>
  <dcterms:modified xsi:type="dcterms:W3CDTF">2026-06-07T22:28:30Z</dcterms:modified>
</cp:coreProperties>
</file>